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9" r:id="rId1"/>
  </p:sldMasterIdLst>
  <p:sldIdLst>
    <p:sldId id="256" r:id="rId2"/>
    <p:sldId id="257" r:id="rId3"/>
    <p:sldId id="259" r:id="rId4"/>
    <p:sldId id="261" r:id="rId5"/>
    <p:sldId id="262" r:id="rId6"/>
    <p:sldId id="260" r:id="rId7"/>
    <p:sldId id="258" r:id="rId8"/>
    <p:sldId id="264" r:id="rId9"/>
    <p:sldId id="268"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slide" Target="slides/slide11.xml"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slide" Target="slides/slide9.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8932558" y="5870575"/>
            <a:ext cx="1600200" cy="377825"/>
          </a:xfrm>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31478054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1323355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17856522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480CA8-0DC7-4910-A4BD-9471E083929F}"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894363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8480CA8-0DC7-4910-A4BD-9471E083929F}" type="datetimeFigureOut">
              <a:rPr lang="en-IN" smtClean="0"/>
              <a:t>13-07-2026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1482248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8480CA8-0DC7-4910-A4BD-9471E083929F}" type="datetimeFigureOut">
              <a:rPr lang="en-IN" smtClean="0"/>
              <a:t>13-07-2026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943745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98480CA8-0DC7-4910-A4BD-9471E083929F}" type="datetimeFigureOut">
              <a:rPr lang="en-IN" smtClean="0"/>
              <a:t>13-07-2026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3636643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480CA8-0DC7-4910-A4BD-9471E083929F}"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34023513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480CA8-0DC7-4910-A4BD-9471E083929F}"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3415246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480CA8-0DC7-4910-A4BD-9471E083929F}"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22302306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18918813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18054323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30990080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14911847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6019549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a:t>Click to edit Master title style</a:t>
            </a:r>
          </a:p>
        </p:txBody>
      </p:sp>
    </p:spTree>
    <p:extLst>
      <p:ext uri="{BB962C8B-B14F-4D97-AF65-F5344CB8AC3E}">
        <p14:creationId xmlns:p14="http://schemas.microsoft.com/office/powerpoint/2010/main" val="10545470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8480CA8-0DC7-4910-A4BD-9471E083929F}"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BADB2C7-903C-4D7E-A5E2-0F6208192C64}" type="slidenum">
              <a:rPr lang="en-IN" smtClean="0"/>
              <a:t>‹#›</a:t>
            </a:fld>
            <a:endParaRPr lang="en-IN"/>
          </a:p>
        </p:txBody>
      </p:sp>
    </p:spTree>
    <p:extLst>
      <p:ext uri="{BB962C8B-B14F-4D97-AF65-F5344CB8AC3E}">
        <p14:creationId xmlns:p14="http://schemas.microsoft.com/office/powerpoint/2010/main" val="177932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slideLayout" Target="../slideLayouts/slideLayout13.xml" /><Relationship Id="rId18" Type="http://schemas.openxmlformats.org/officeDocument/2006/relationships/theme" Target="../theme/theme1.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slideLayout" Target="../slideLayouts/slideLayout12.xml" /><Relationship Id="rId17" Type="http://schemas.openxmlformats.org/officeDocument/2006/relationships/slideLayout" Target="../slideLayouts/slideLayout17.xml" /><Relationship Id="rId2" Type="http://schemas.openxmlformats.org/officeDocument/2006/relationships/slideLayout" Target="../slideLayouts/slideLayout2.xml" /><Relationship Id="rId16" Type="http://schemas.openxmlformats.org/officeDocument/2006/relationships/slideLayout" Target="../slideLayouts/slideLayout16.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5" Type="http://schemas.openxmlformats.org/officeDocument/2006/relationships/slideLayout" Target="../slideLayouts/slideLayout1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slideLayout" Target="../slideLayouts/slideLayout14.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8480CA8-0DC7-4910-A4BD-9471E083929F}" type="datetimeFigureOut">
              <a:rPr lang="en-IN" smtClean="0"/>
              <a:t>13-07-2026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BADB2C7-903C-4D7E-A5E2-0F6208192C64}" type="slidenum">
              <a:rPr lang="en-IN" smtClean="0"/>
              <a:t>‹#›</a:t>
            </a:fld>
            <a:endParaRPr lang="en-IN"/>
          </a:p>
        </p:txBody>
      </p:sp>
    </p:spTree>
    <p:extLst>
      <p:ext uri="{BB962C8B-B14F-4D97-AF65-F5344CB8AC3E}">
        <p14:creationId xmlns:p14="http://schemas.microsoft.com/office/powerpoint/2010/main" val="4168822455"/>
      </p:ext>
    </p:extLst>
  </p:cSld>
  <p:clrMap bg1="dk1" tx1="lt1" bg2="dk2" tx2="lt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Layout" Target="../slideLayouts/slideLayout8.xml" /></Relationships>
</file>

<file path=ppt/slides/_rels/slide4.xml.rels><?xml version="1.0" encoding="UTF-8" standalone="yes"?>
<Relationships xmlns="http://schemas.openxmlformats.org/package/2006/relationships"><Relationship Id="rId2" Type="http://schemas.openxmlformats.org/officeDocument/2006/relationships/image" Target="../media/image5.png"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image" Target="../media/image6.png"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2" Type="http://schemas.openxmlformats.org/officeDocument/2006/relationships/image" Target="../media/image8.png" /><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2" Type="http://schemas.openxmlformats.org/officeDocument/2006/relationships/image" Target="../media/image9.png" /><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image" Target="../media/image10.png" /><Relationship Id="rId1" Type="http://schemas.openxmlformats.org/officeDocument/2006/relationships/slideLayout" Target="../slideLayouts/slideLayout2.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AE9EF-EC2E-4BB2-E363-AD6F98E2411A}"/>
              </a:ext>
            </a:extLst>
          </p:cNvPr>
          <p:cNvSpPr>
            <a:spLocks noGrp="1"/>
          </p:cNvSpPr>
          <p:nvPr>
            <p:ph type="ctrTitle"/>
          </p:nvPr>
        </p:nvSpPr>
        <p:spPr>
          <a:xfrm>
            <a:off x="1877786" y="555524"/>
            <a:ext cx="9626827" cy="634179"/>
          </a:xfrm>
        </p:spPr>
        <p:txBody>
          <a:bodyPr>
            <a:noAutofit/>
          </a:bodyPr>
          <a:lstStyle/>
          <a:p>
            <a:pPr algn="ctr"/>
            <a:r>
              <a:rPr lang="en-US" sz="3600" b="1" u="sng"/>
              <a:t>IOT BASED SMART CAR PARKING SYSTEM </a:t>
            </a:r>
            <a:endParaRPr lang="en-IN" sz="3600" b="1" u="sng"/>
          </a:p>
        </p:txBody>
      </p:sp>
      <p:sp>
        <p:nvSpPr>
          <p:cNvPr id="3" name="Subtitle 2">
            <a:extLst>
              <a:ext uri="{FF2B5EF4-FFF2-40B4-BE49-F238E27FC236}">
                <a16:creationId xmlns:a16="http://schemas.microsoft.com/office/drawing/2014/main" id="{A8C77355-9E44-E9E2-09A6-B950A4CBE514}"/>
              </a:ext>
            </a:extLst>
          </p:cNvPr>
          <p:cNvSpPr>
            <a:spLocks noGrp="1"/>
          </p:cNvSpPr>
          <p:nvPr>
            <p:ph type="subTitle" idx="1"/>
          </p:nvPr>
        </p:nvSpPr>
        <p:spPr>
          <a:xfrm>
            <a:off x="1877786" y="1189703"/>
            <a:ext cx="9626827" cy="5112773"/>
          </a:xfrm>
        </p:spPr>
        <p:txBody>
          <a:bodyPr>
            <a:normAutofit fontScale="25000" lnSpcReduction="20000"/>
          </a:bodyPr>
          <a:lstStyle/>
          <a:p>
            <a:pPr algn="ctr"/>
            <a:r>
              <a:rPr lang="en-US" sz="5600">
                <a:latin typeface="Times New Roman" panose="02020603050405020304" pitchFamily="18" charset="0"/>
                <a:cs typeface="Times New Roman" panose="02020603050405020304" pitchFamily="18" charset="0"/>
              </a:rPr>
              <a:t>A Dissertation Submitted In Partial Fulfilment Of The Requirements For The Degree Of</a:t>
            </a:r>
          </a:p>
          <a:p>
            <a:pPr algn="ctr"/>
            <a:r>
              <a:rPr lang="en-US" sz="5600" b="1">
                <a:latin typeface="Times New Roman" panose="02020603050405020304" pitchFamily="18" charset="0"/>
                <a:cs typeface="Times New Roman" panose="02020603050405020304" pitchFamily="18" charset="0"/>
              </a:rPr>
              <a:t>Bachelor Of Technology in Electronics and Communication Engineering </a:t>
            </a:r>
          </a:p>
          <a:p>
            <a:pPr algn="ctr"/>
            <a:r>
              <a:rPr lang="en-US" sz="5600" b="1">
                <a:latin typeface="Times New Roman" panose="02020603050405020304" pitchFamily="18" charset="0"/>
                <a:cs typeface="Times New Roman" panose="02020603050405020304" pitchFamily="18" charset="0"/>
              </a:rPr>
              <a:t>Under The </a:t>
            </a:r>
          </a:p>
          <a:p>
            <a:pPr algn="ctr"/>
            <a:r>
              <a:rPr lang="en-US" sz="5600" b="1" u="sng">
                <a:latin typeface="Times New Roman" panose="02020603050405020304" pitchFamily="18" charset="0"/>
                <a:cs typeface="Times New Roman" panose="02020603050405020304" pitchFamily="18" charset="0"/>
              </a:rPr>
              <a:t>Maulana Abul Kalam Azad University Of Technology </a:t>
            </a:r>
            <a:endParaRPr lang="en-US" sz="4800" b="1" u="sng">
              <a:latin typeface="Times New Roman" panose="02020603050405020304" pitchFamily="18" charset="0"/>
              <a:cs typeface="Times New Roman" panose="02020603050405020304" pitchFamily="18" charset="0"/>
            </a:endParaRPr>
          </a:p>
          <a:p>
            <a:pPr algn="ctr"/>
            <a:endParaRPr lang="en-US" sz="4800" b="1">
              <a:latin typeface="Times New Roman" panose="02020603050405020304" pitchFamily="18" charset="0"/>
              <a:cs typeface="Times New Roman" panose="02020603050405020304" pitchFamily="18" charset="0"/>
            </a:endParaRPr>
          </a:p>
          <a:p>
            <a:pPr algn="ctr"/>
            <a:r>
              <a:rPr lang="en-US" sz="5600" b="1" u="sng">
                <a:latin typeface="Times New Roman" panose="02020603050405020304" pitchFamily="18" charset="0"/>
                <a:cs typeface="Times New Roman" panose="02020603050405020304" pitchFamily="18" charset="0"/>
              </a:rPr>
              <a:t>Under The Supervision of</a:t>
            </a:r>
          </a:p>
          <a:p>
            <a:pPr algn="ctr"/>
            <a:r>
              <a:rPr lang="en-US" sz="5600" b="1">
                <a:latin typeface="Times New Roman" panose="02020603050405020304" pitchFamily="18" charset="0"/>
                <a:cs typeface="Times New Roman" panose="02020603050405020304" pitchFamily="18" charset="0"/>
              </a:rPr>
              <a:t>Prof. Sonali Basak</a:t>
            </a:r>
          </a:p>
          <a:p>
            <a:pPr algn="ctr"/>
            <a:r>
              <a:rPr lang="en-US" sz="5600">
                <a:latin typeface="Times New Roman" panose="02020603050405020304" pitchFamily="18" charset="0"/>
                <a:cs typeface="Times New Roman" panose="02020603050405020304" pitchFamily="18" charset="0"/>
              </a:rPr>
              <a:t>Assistant Professor, Department of ECE, SVIST </a:t>
            </a:r>
            <a:endParaRPr lang="en-US" sz="6400">
              <a:latin typeface="Times New Roman" panose="02020603050405020304" pitchFamily="18" charset="0"/>
              <a:cs typeface="Times New Roman" panose="02020603050405020304" pitchFamily="18" charset="0"/>
            </a:endParaRPr>
          </a:p>
          <a:p>
            <a:pPr algn="ctr"/>
            <a:r>
              <a:rPr lang="en-US" sz="4800" u="sng">
                <a:latin typeface="Times New Roman" panose="02020603050405020304" pitchFamily="18" charset="0"/>
                <a:cs typeface="Times New Roman" panose="02020603050405020304" pitchFamily="18" charset="0"/>
              </a:rPr>
              <a:t>Presented By</a:t>
            </a:r>
            <a:endParaRPr lang="en-US" sz="6400" u="sng">
              <a:latin typeface="Times New Roman" panose="02020603050405020304" pitchFamily="18" charset="0"/>
              <a:cs typeface="Times New Roman" panose="02020603050405020304" pitchFamily="18" charset="0"/>
            </a:endParaRPr>
          </a:p>
          <a:p>
            <a:pPr algn="ctr"/>
            <a:r>
              <a:rPr lang="en-US" sz="5600" b="1">
                <a:latin typeface="Times New Roman" panose="02020603050405020304" pitchFamily="18" charset="0"/>
                <a:cs typeface="Times New Roman" panose="02020603050405020304" pitchFamily="18" charset="0"/>
              </a:rPr>
              <a:t> Alinda Pal                                             Himanshu Prasad                                  Arindam Dutta</a:t>
            </a:r>
          </a:p>
          <a:p>
            <a:pPr algn="ctr"/>
            <a:r>
              <a:rPr lang="en-US" sz="5600">
                <a:latin typeface="Times New Roman" panose="02020603050405020304" pitchFamily="18" charset="0"/>
                <a:cs typeface="Times New Roman" panose="02020603050405020304" pitchFamily="18" charset="0"/>
              </a:rPr>
              <a:t>   (Roll no. 24100322028)                        (Roll no. 24100323069)                         (Roll no. 24100323056)    </a:t>
            </a:r>
          </a:p>
          <a:p>
            <a:pPr algn="ctr"/>
            <a:r>
              <a:rPr lang="en-US" sz="5600" b="1">
                <a:latin typeface="Times New Roman" panose="02020603050405020304" pitchFamily="18" charset="0"/>
                <a:cs typeface="Times New Roman" panose="02020603050405020304" pitchFamily="18" charset="0"/>
              </a:rPr>
              <a:t>  Madhumita Dutta                                 </a:t>
            </a:r>
            <a:r>
              <a:rPr lang="en-US" sz="5600" b="1" err="1">
                <a:latin typeface="Times New Roman" panose="02020603050405020304" pitchFamily="18" charset="0"/>
                <a:cs typeface="Times New Roman" panose="02020603050405020304" pitchFamily="18" charset="0"/>
              </a:rPr>
              <a:t>Suvhojit</a:t>
            </a:r>
            <a:r>
              <a:rPr lang="en-US" sz="5600" b="1">
                <a:latin typeface="Times New Roman" panose="02020603050405020304" pitchFamily="18" charset="0"/>
                <a:cs typeface="Times New Roman" panose="02020603050405020304" pitchFamily="18" charset="0"/>
              </a:rPr>
              <a:t> Dutta                                    Manish </a:t>
            </a:r>
            <a:r>
              <a:rPr lang="en-US" sz="5600" b="1" err="1">
                <a:latin typeface="Times New Roman" panose="02020603050405020304" pitchFamily="18" charset="0"/>
                <a:cs typeface="Times New Roman" panose="02020603050405020304" pitchFamily="18" charset="0"/>
              </a:rPr>
              <a:t>Talukdr</a:t>
            </a:r>
            <a:r>
              <a:rPr lang="en-US" sz="5600" b="1">
                <a:latin typeface="Times New Roman" panose="02020603050405020304" pitchFamily="18" charset="0"/>
                <a:cs typeface="Times New Roman" panose="02020603050405020304" pitchFamily="18" charset="0"/>
              </a:rPr>
              <a:t>                </a:t>
            </a:r>
          </a:p>
          <a:p>
            <a:pPr algn="l"/>
            <a:r>
              <a:rPr lang="en-US" sz="5600" b="1">
                <a:latin typeface="Times New Roman" panose="02020603050405020304" pitchFamily="18" charset="0"/>
                <a:cs typeface="Times New Roman" panose="02020603050405020304" pitchFamily="18" charset="0"/>
              </a:rPr>
              <a:t>                 </a:t>
            </a:r>
            <a:r>
              <a:rPr lang="en-US" sz="5600">
                <a:latin typeface="Times New Roman" panose="02020603050405020304" pitchFamily="18" charset="0"/>
                <a:cs typeface="Times New Roman" panose="02020603050405020304" pitchFamily="18" charset="0"/>
              </a:rPr>
              <a:t>(Roll no. 24100323073)                         (Roll no. 24100323090)                          (Roll no. 24100322053)</a:t>
            </a:r>
          </a:p>
          <a:p>
            <a:pPr algn="l"/>
            <a:endParaRPr lang="en-US" sz="5600">
              <a:latin typeface="Times New Roman" panose="02020603050405020304" pitchFamily="18" charset="0"/>
              <a:cs typeface="Times New Roman" panose="02020603050405020304" pitchFamily="18" charset="0"/>
            </a:endParaRPr>
          </a:p>
          <a:p>
            <a:pPr algn="ctr"/>
            <a:r>
              <a:rPr lang="en-US" sz="5600" b="1" u="sng">
                <a:latin typeface="Times New Roman" panose="02020603050405020304" pitchFamily="18" charset="0"/>
                <a:cs typeface="Times New Roman" panose="02020603050405020304" pitchFamily="18" charset="0"/>
              </a:rPr>
              <a:t>Swami Vivekananda institute of science and technology</a:t>
            </a:r>
          </a:p>
          <a:p>
            <a:pPr algn="ctr"/>
            <a:r>
              <a:rPr lang="en-US" sz="5600" b="1" u="sng">
                <a:latin typeface="Times New Roman" panose="02020603050405020304" pitchFamily="18" charset="0"/>
                <a:cs typeface="Times New Roman" panose="02020603050405020304" pitchFamily="18" charset="0"/>
              </a:rPr>
              <a:t>West Bengal</a:t>
            </a:r>
          </a:p>
          <a:p>
            <a:pPr algn="ctr"/>
            <a:r>
              <a:rPr lang="en-US" sz="5600" b="1" u="sng">
                <a:latin typeface="Times New Roman" panose="02020603050405020304" pitchFamily="18" charset="0"/>
                <a:cs typeface="Times New Roman" panose="02020603050405020304" pitchFamily="18" charset="0"/>
              </a:rPr>
              <a:t>2025-2026</a:t>
            </a:r>
          </a:p>
          <a:p>
            <a:pPr algn="ctr"/>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25166975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06151-7CF3-6CFD-39DD-0E59BE1082E0}"/>
              </a:ext>
            </a:extLst>
          </p:cNvPr>
          <p:cNvSpPr>
            <a:spLocks noGrp="1"/>
          </p:cNvSpPr>
          <p:nvPr>
            <p:ph type="title"/>
          </p:nvPr>
        </p:nvSpPr>
        <p:spPr>
          <a:xfrm>
            <a:off x="963561" y="609600"/>
            <a:ext cx="9853665" cy="884903"/>
          </a:xfrm>
        </p:spPr>
        <p:txBody>
          <a:bodyPr/>
          <a:lstStyle/>
          <a:p>
            <a:pPr marL="571500" indent="-571500">
              <a:buFont typeface="Wingdings" panose="05000000000000000000" pitchFamily="2" charset="2"/>
              <a:buChar char="v"/>
            </a:pPr>
            <a:r>
              <a:rPr lang="en-US" b="1" u="sng"/>
              <a:t>Introduction and problem statements</a:t>
            </a:r>
            <a:endParaRPr lang="en-IN" b="1" u="sng"/>
          </a:p>
        </p:txBody>
      </p:sp>
      <p:sp>
        <p:nvSpPr>
          <p:cNvPr id="3" name="Content Placeholder 2">
            <a:extLst>
              <a:ext uri="{FF2B5EF4-FFF2-40B4-BE49-F238E27FC236}">
                <a16:creationId xmlns:a16="http://schemas.microsoft.com/office/drawing/2014/main" id="{BBD2CE73-9A2F-AC46-1B6F-BB1DB986073B}"/>
              </a:ext>
            </a:extLst>
          </p:cNvPr>
          <p:cNvSpPr>
            <a:spLocks noGrp="1"/>
          </p:cNvSpPr>
          <p:nvPr>
            <p:ph idx="1"/>
          </p:nvPr>
        </p:nvSpPr>
        <p:spPr>
          <a:xfrm>
            <a:off x="1612490" y="1494503"/>
            <a:ext cx="9204736" cy="4753897"/>
          </a:xfrm>
        </p:spPr>
        <p:txBody>
          <a:bodyPr/>
          <a:lstStyle/>
          <a:p>
            <a:pPr marL="0" indent="0">
              <a:buNone/>
            </a:pPr>
            <a:r>
              <a:rPr lang="en-US" b="1" u="sng" dirty="0">
                <a:latin typeface="Times New Roman" panose="02020603050405020304" pitchFamily="18" charset="0"/>
                <a:cs typeface="Times New Roman" panose="02020603050405020304" pitchFamily="18" charset="0"/>
              </a:rPr>
              <a:t>Introduction</a:t>
            </a:r>
          </a:p>
          <a:p>
            <a:pPr marL="0" indent="0">
              <a:buNone/>
            </a:pPr>
            <a:r>
              <a:rPr lang="en-US" dirty="0">
                <a:latin typeface="Times New Roman" panose="02020603050405020304" pitchFamily="18" charset="0"/>
                <a:cs typeface="Times New Roman" panose="02020603050405020304" pitchFamily="18" charset="0"/>
              </a:rPr>
              <a:t>The IoT-Based Smart Car Parking System is an intelligent parking solution that uses IR sensors, an ESP8266 Wi-Fi module, and the Blynk IoT platform to monitor parking spaces in real time. It enables users to check slot availability remotely, reducing parking time, traffic congestion, and fuel consumption while improving overall parking efficiency. </a:t>
            </a:r>
          </a:p>
          <a:p>
            <a:pPr marL="0" indent="0">
              <a:buNone/>
            </a:pPr>
            <a:r>
              <a:rPr lang="en-US" b="1" u="sng" dirty="0">
                <a:latin typeface="Times New Roman" panose="02020603050405020304" pitchFamily="18" charset="0"/>
                <a:cs typeface="Times New Roman" panose="02020603050405020304" pitchFamily="18" charset="0"/>
              </a:rPr>
              <a:t>Problem Statement</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Difficulty in finding vacant parking spaces.</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Lack of real-time parking information.</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Increased traffic congestion and fuel wastage.</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Inefficient manual parking management.</a:t>
            </a:r>
          </a:p>
          <a:p>
            <a:pPr marL="342900" indent="-342900">
              <a:buFont typeface="+mj-lt"/>
              <a:buAutoNum type="arabicPeriod"/>
            </a:pPr>
            <a:r>
              <a:rPr lang="en-US" dirty="0">
                <a:latin typeface="Times New Roman" panose="02020603050405020304" pitchFamily="18" charset="0"/>
                <a:cs typeface="Times New Roman" panose="02020603050405020304" pitchFamily="18" charset="0"/>
              </a:rPr>
              <a:t>Need for a cost-effective smart parking solution. </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2074233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6BA68-7803-5010-4787-5604882BDF82}"/>
              </a:ext>
            </a:extLst>
          </p:cNvPr>
          <p:cNvSpPr>
            <a:spLocks noGrp="1"/>
          </p:cNvSpPr>
          <p:nvPr>
            <p:ph type="title"/>
          </p:nvPr>
        </p:nvSpPr>
        <p:spPr>
          <a:xfrm>
            <a:off x="685800" y="609602"/>
            <a:ext cx="5085021" cy="688256"/>
          </a:xfrm>
        </p:spPr>
        <p:txBody>
          <a:bodyPr>
            <a:noAutofit/>
          </a:bodyPr>
          <a:lstStyle/>
          <a:p>
            <a:pPr marL="571500" indent="-571500">
              <a:buFont typeface="Wingdings" panose="05000000000000000000" pitchFamily="2" charset="2"/>
              <a:buChar char="v"/>
            </a:pPr>
            <a:r>
              <a:rPr lang="en-IN" sz="3600" b="1" u="sng"/>
              <a:t>System Architecture</a:t>
            </a:r>
          </a:p>
        </p:txBody>
      </p:sp>
      <p:pic>
        <p:nvPicPr>
          <p:cNvPr id="7" name="Content Placeholder 6">
            <a:extLst>
              <a:ext uri="{FF2B5EF4-FFF2-40B4-BE49-F238E27FC236}">
                <a16:creationId xmlns:a16="http://schemas.microsoft.com/office/drawing/2014/main" id="{1B8A4D4E-ADCC-9DDE-44AE-1A1F105DD885}"/>
              </a:ext>
            </a:extLst>
          </p:cNvPr>
          <p:cNvPicPr>
            <a:picLocks noGrp="1" noChangeAspect="1"/>
          </p:cNvPicPr>
          <p:nvPr>
            <p:ph idx="1"/>
          </p:nvPr>
        </p:nvPicPr>
        <p:blipFill>
          <a:blip r:embed="rId2"/>
          <a:stretch>
            <a:fillRect/>
          </a:stretch>
        </p:blipFill>
        <p:spPr>
          <a:xfrm>
            <a:off x="5594555" y="1376516"/>
            <a:ext cx="6420464" cy="4542504"/>
          </a:xfrm>
          <a:prstGeom prst="rect">
            <a:avLst/>
          </a:prstGeom>
        </p:spPr>
      </p:pic>
      <p:sp>
        <p:nvSpPr>
          <p:cNvPr id="5" name="Text Placeholder 4">
            <a:extLst>
              <a:ext uri="{FF2B5EF4-FFF2-40B4-BE49-F238E27FC236}">
                <a16:creationId xmlns:a16="http://schemas.microsoft.com/office/drawing/2014/main" id="{7AA07760-3F59-B120-2655-C5CC9347EBEC}"/>
              </a:ext>
            </a:extLst>
          </p:cNvPr>
          <p:cNvSpPr>
            <a:spLocks noGrp="1"/>
          </p:cNvSpPr>
          <p:nvPr>
            <p:ph type="body" sz="half" idx="2"/>
          </p:nvPr>
        </p:nvSpPr>
        <p:spPr>
          <a:xfrm>
            <a:off x="685800" y="1297858"/>
            <a:ext cx="4908755" cy="4493343"/>
          </a:xfrm>
        </p:spPr>
        <p:txBody>
          <a:bodyPr>
            <a:normAutofit/>
          </a:bodyPr>
          <a:lstStyle/>
          <a:p>
            <a:r>
              <a:rPr lang="en-US" sz="1800" dirty="0"/>
              <a:t>The IoT-Based Smart Car Parking System consists of four main layers:</a:t>
            </a:r>
          </a:p>
          <a:p>
            <a:pPr marL="342900" indent="-342900">
              <a:buFont typeface="+mj-lt"/>
              <a:buAutoNum type="arabicPeriod"/>
            </a:pPr>
            <a:r>
              <a:rPr lang="en-US" sz="1800" dirty="0"/>
              <a:t>Sensing Layer: IR sensors detect whether each parking slot </a:t>
            </a:r>
            <a:r>
              <a:rPr lang="en-US" sz="1800"/>
              <a:t>is occupied </a:t>
            </a:r>
            <a:r>
              <a:rPr lang="en-US" sz="1800" dirty="0"/>
              <a:t>or vacant.</a:t>
            </a:r>
          </a:p>
          <a:p>
            <a:pPr marL="342900" indent="-342900">
              <a:buFont typeface="+mj-lt"/>
              <a:buAutoNum type="arabicPeriod"/>
            </a:pPr>
            <a:r>
              <a:rPr lang="en-US" sz="1800" dirty="0"/>
              <a:t>Processing Layer: The ESP8266 Node MCU collects sensor data and processes the parking status.</a:t>
            </a:r>
          </a:p>
          <a:p>
            <a:pPr marL="342900" indent="-342900">
              <a:buFont typeface="+mj-lt"/>
              <a:buAutoNum type="arabicPeriod"/>
            </a:pPr>
            <a:r>
              <a:rPr lang="en-US" sz="1800" dirty="0"/>
              <a:t>Communication Layer: The ESP8266 transmits the processed data to the Blynk Cloud via Wi-Fi.</a:t>
            </a:r>
          </a:p>
          <a:p>
            <a:pPr marL="342900" indent="-342900">
              <a:buFont typeface="+mj-lt"/>
              <a:buAutoNum type="arabicPeriod"/>
            </a:pPr>
            <a:r>
              <a:rPr lang="en-US" sz="1800" dirty="0"/>
              <a:t>Application Layer: The Blynk mobile application displays real-time parking availability and allows users to monitor and reserve parking slots remotely. </a:t>
            </a:r>
            <a:endParaRPr lang="en-IN" sz="1800" dirty="0"/>
          </a:p>
        </p:txBody>
      </p:sp>
    </p:spTree>
    <p:extLst>
      <p:ext uri="{BB962C8B-B14F-4D97-AF65-F5344CB8AC3E}">
        <p14:creationId xmlns:p14="http://schemas.microsoft.com/office/powerpoint/2010/main" val="4136004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26547-D989-393D-78E6-10A5F3375E90}"/>
              </a:ext>
            </a:extLst>
          </p:cNvPr>
          <p:cNvSpPr>
            <a:spLocks noGrp="1"/>
          </p:cNvSpPr>
          <p:nvPr>
            <p:ph type="title"/>
          </p:nvPr>
        </p:nvSpPr>
        <p:spPr>
          <a:xfrm>
            <a:off x="685801" y="609600"/>
            <a:ext cx="10131425" cy="727587"/>
          </a:xfrm>
        </p:spPr>
        <p:txBody>
          <a:bodyPr/>
          <a:lstStyle/>
          <a:p>
            <a:pPr marL="571500" indent="-571500">
              <a:buFont typeface="Wingdings" panose="05000000000000000000" pitchFamily="2" charset="2"/>
              <a:buChar char="v"/>
            </a:pPr>
            <a:r>
              <a:rPr lang="en-US" b="1" u="sng" dirty="0"/>
              <a:t>Hardware and software components</a:t>
            </a:r>
            <a:endParaRPr lang="en-IN" b="1" u="sng" dirty="0"/>
          </a:p>
        </p:txBody>
      </p:sp>
      <p:pic>
        <p:nvPicPr>
          <p:cNvPr id="11" name="Content Placeholder 10">
            <a:extLst>
              <a:ext uri="{FF2B5EF4-FFF2-40B4-BE49-F238E27FC236}">
                <a16:creationId xmlns:a16="http://schemas.microsoft.com/office/drawing/2014/main" id="{6BAEFA63-6D36-66A3-96B9-E3A129DA3AA6}"/>
              </a:ext>
            </a:extLst>
          </p:cNvPr>
          <p:cNvPicPr>
            <a:picLocks noGrp="1" noChangeAspect="1"/>
          </p:cNvPicPr>
          <p:nvPr>
            <p:ph idx="1"/>
          </p:nvPr>
        </p:nvPicPr>
        <p:blipFill>
          <a:blip r:embed="rId2"/>
          <a:stretch>
            <a:fillRect/>
          </a:stretch>
        </p:blipFill>
        <p:spPr>
          <a:xfrm>
            <a:off x="1986117" y="1337186"/>
            <a:ext cx="8003458" cy="5152103"/>
          </a:xfrm>
          <a:prstGeom prst="rect">
            <a:avLst/>
          </a:prstGeom>
        </p:spPr>
      </p:pic>
    </p:spTree>
    <p:extLst>
      <p:ext uri="{BB962C8B-B14F-4D97-AF65-F5344CB8AC3E}">
        <p14:creationId xmlns:p14="http://schemas.microsoft.com/office/powerpoint/2010/main" val="3536921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F897D-4C7F-5B4C-A5D5-2462CDB22DA9}"/>
              </a:ext>
            </a:extLst>
          </p:cNvPr>
          <p:cNvSpPr>
            <a:spLocks noGrp="1"/>
          </p:cNvSpPr>
          <p:nvPr>
            <p:ph type="title"/>
          </p:nvPr>
        </p:nvSpPr>
        <p:spPr>
          <a:xfrm>
            <a:off x="685801" y="609600"/>
            <a:ext cx="10131425" cy="717755"/>
          </a:xfrm>
        </p:spPr>
        <p:txBody>
          <a:bodyPr/>
          <a:lstStyle/>
          <a:p>
            <a:pPr marL="571500" indent="-571500">
              <a:buFont typeface="Wingdings" panose="05000000000000000000" pitchFamily="2" charset="2"/>
              <a:buChar char="v"/>
            </a:pPr>
            <a:r>
              <a:rPr lang="en-US" b="1" u="sng" dirty="0"/>
              <a:t>Circuit diagram</a:t>
            </a:r>
            <a:endParaRPr lang="en-IN" b="1" u="sng" dirty="0"/>
          </a:p>
        </p:txBody>
      </p:sp>
      <p:pic>
        <p:nvPicPr>
          <p:cNvPr id="6" name="Content Placeholder 5">
            <a:extLst>
              <a:ext uri="{FF2B5EF4-FFF2-40B4-BE49-F238E27FC236}">
                <a16:creationId xmlns:a16="http://schemas.microsoft.com/office/drawing/2014/main" id="{BF0DE788-5909-B9C0-00BC-F6C16502B240}"/>
              </a:ext>
            </a:extLst>
          </p:cNvPr>
          <p:cNvPicPr>
            <a:picLocks noGrp="1" noChangeAspect="1"/>
          </p:cNvPicPr>
          <p:nvPr>
            <p:ph idx="1"/>
          </p:nvPr>
        </p:nvPicPr>
        <p:blipFill>
          <a:blip r:embed="rId2"/>
          <a:stretch>
            <a:fillRect/>
          </a:stretch>
        </p:blipFill>
        <p:spPr>
          <a:xfrm>
            <a:off x="1374774" y="1327355"/>
            <a:ext cx="9362051" cy="5053780"/>
          </a:xfrm>
          <a:prstGeom prst="rect">
            <a:avLst/>
          </a:prstGeom>
        </p:spPr>
      </p:pic>
    </p:spTree>
    <p:extLst>
      <p:ext uri="{BB962C8B-B14F-4D97-AF65-F5344CB8AC3E}">
        <p14:creationId xmlns:p14="http://schemas.microsoft.com/office/powerpoint/2010/main" val="31933195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2C5F91-5119-B029-B099-DE9C85BD2F47}"/>
              </a:ext>
            </a:extLst>
          </p:cNvPr>
          <p:cNvSpPr>
            <a:spLocks noGrp="1"/>
          </p:cNvSpPr>
          <p:nvPr>
            <p:ph type="title"/>
          </p:nvPr>
        </p:nvSpPr>
        <p:spPr>
          <a:xfrm>
            <a:off x="685801" y="609601"/>
            <a:ext cx="10131425" cy="668594"/>
          </a:xfrm>
        </p:spPr>
        <p:txBody>
          <a:bodyPr/>
          <a:lstStyle/>
          <a:p>
            <a:pPr marL="571500" indent="-571500">
              <a:buFont typeface="Wingdings" panose="05000000000000000000" pitchFamily="2" charset="2"/>
              <a:buChar char="v"/>
            </a:pPr>
            <a:r>
              <a:rPr lang="en-IN" b="1" u="sng" dirty="0"/>
              <a:t>Working Principle</a:t>
            </a:r>
          </a:p>
        </p:txBody>
      </p:sp>
      <p:pic>
        <p:nvPicPr>
          <p:cNvPr id="9" name="Content Placeholder 8">
            <a:extLst>
              <a:ext uri="{FF2B5EF4-FFF2-40B4-BE49-F238E27FC236}">
                <a16:creationId xmlns:a16="http://schemas.microsoft.com/office/drawing/2014/main" id="{FEE0244F-1D08-7665-B991-66A411C7183F}"/>
              </a:ext>
            </a:extLst>
          </p:cNvPr>
          <p:cNvPicPr>
            <a:picLocks noGrp="1" noChangeAspect="1"/>
          </p:cNvPicPr>
          <p:nvPr>
            <p:ph idx="1"/>
          </p:nvPr>
        </p:nvPicPr>
        <p:blipFill>
          <a:blip r:embed="rId2"/>
          <a:srcRect l="2003" t="10659" r="2001"/>
          <a:stretch>
            <a:fillRect/>
          </a:stretch>
        </p:blipFill>
        <p:spPr>
          <a:xfrm>
            <a:off x="1617406" y="1396181"/>
            <a:ext cx="9199820" cy="4984954"/>
          </a:xfrm>
          <a:prstGeom prst="rect">
            <a:avLst/>
          </a:prstGeom>
        </p:spPr>
      </p:pic>
    </p:spTree>
    <p:extLst>
      <p:ext uri="{BB962C8B-B14F-4D97-AF65-F5344CB8AC3E}">
        <p14:creationId xmlns:p14="http://schemas.microsoft.com/office/powerpoint/2010/main" val="920087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C4A97-4513-CB1C-7A4A-C9A735CFD3B6}"/>
              </a:ext>
            </a:extLst>
          </p:cNvPr>
          <p:cNvSpPr>
            <a:spLocks noGrp="1"/>
          </p:cNvSpPr>
          <p:nvPr>
            <p:ph type="title"/>
          </p:nvPr>
        </p:nvSpPr>
        <p:spPr>
          <a:xfrm>
            <a:off x="685801" y="609601"/>
            <a:ext cx="10131425" cy="747251"/>
          </a:xfrm>
        </p:spPr>
        <p:txBody>
          <a:bodyPr/>
          <a:lstStyle/>
          <a:p>
            <a:pPr marL="571500" indent="-571500">
              <a:buFont typeface="Wingdings" panose="05000000000000000000" pitchFamily="2" charset="2"/>
              <a:buChar char="v"/>
            </a:pPr>
            <a:r>
              <a:rPr lang="en-US" b="1" u="sng" dirty="0"/>
              <a:t>objectives</a:t>
            </a:r>
            <a:endParaRPr lang="en-IN" b="1" u="sng" dirty="0"/>
          </a:p>
        </p:txBody>
      </p:sp>
      <p:sp>
        <p:nvSpPr>
          <p:cNvPr id="3" name="Content Placeholder 2">
            <a:extLst>
              <a:ext uri="{FF2B5EF4-FFF2-40B4-BE49-F238E27FC236}">
                <a16:creationId xmlns:a16="http://schemas.microsoft.com/office/drawing/2014/main" id="{FB4A6031-4A5D-5994-B13D-B03E25402254}"/>
              </a:ext>
            </a:extLst>
          </p:cNvPr>
          <p:cNvSpPr>
            <a:spLocks noGrp="1"/>
          </p:cNvSpPr>
          <p:nvPr>
            <p:ph idx="1"/>
          </p:nvPr>
        </p:nvSpPr>
        <p:spPr>
          <a:xfrm>
            <a:off x="1297858" y="1671485"/>
            <a:ext cx="9519368" cy="4119716"/>
          </a:xfrm>
        </p:spPr>
        <p:txBody>
          <a:bodyPr/>
          <a:lstStyle/>
          <a:p>
            <a:pPr marL="0" indent="0">
              <a:buNone/>
            </a:pPr>
            <a:endParaRPr lang="en-US"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a:p>
            <a:pPr marL="0" indent="0">
              <a:buNone/>
            </a:pPr>
            <a:endParaRPr lang="en-IN" dirty="0"/>
          </a:p>
        </p:txBody>
      </p:sp>
      <p:pic>
        <p:nvPicPr>
          <p:cNvPr id="5" name="Picture 4">
            <a:extLst>
              <a:ext uri="{FF2B5EF4-FFF2-40B4-BE49-F238E27FC236}">
                <a16:creationId xmlns:a16="http://schemas.microsoft.com/office/drawing/2014/main" id="{CF7A8960-5097-6734-0BC7-87BE2CAD77E9}"/>
              </a:ext>
            </a:extLst>
          </p:cNvPr>
          <p:cNvPicPr>
            <a:picLocks noChangeAspect="1"/>
          </p:cNvPicPr>
          <p:nvPr/>
        </p:nvPicPr>
        <p:blipFill>
          <a:blip r:embed="rId2"/>
          <a:stretch>
            <a:fillRect/>
          </a:stretch>
        </p:blipFill>
        <p:spPr>
          <a:xfrm>
            <a:off x="1681316" y="1356852"/>
            <a:ext cx="8377084" cy="5186515"/>
          </a:xfrm>
          <a:prstGeom prst="rect">
            <a:avLst/>
          </a:prstGeom>
        </p:spPr>
      </p:pic>
    </p:spTree>
    <p:extLst>
      <p:ext uri="{BB962C8B-B14F-4D97-AF65-F5344CB8AC3E}">
        <p14:creationId xmlns:p14="http://schemas.microsoft.com/office/powerpoint/2010/main" val="8611009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A3441C-75C2-8ED9-4F11-61B55EA5716F}"/>
              </a:ext>
            </a:extLst>
          </p:cNvPr>
          <p:cNvSpPr>
            <a:spLocks noGrp="1"/>
          </p:cNvSpPr>
          <p:nvPr>
            <p:ph type="title"/>
          </p:nvPr>
        </p:nvSpPr>
        <p:spPr>
          <a:xfrm>
            <a:off x="685801" y="609601"/>
            <a:ext cx="10131425" cy="688258"/>
          </a:xfrm>
        </p:spPr>
        <p:txBody>
          <a:bodyPr/>
          <a:lstStyle/>
          <a:p>
            <a:pPr marL="571500" indent="-571500">
              <a:buFont typeface="Wingdings" panose="05000000000000000000" pitchFamily="2" charset="2"/>
              <a:buChar char="v"/>
            </a:pPr>
            <a:r>
              <a:rPr lang="en-US" b="1" u="sng"/>
              <a:t>benefits</a:t>
            </a:r>
            <a:endParaRPr lang="en-IN" b="1" u="sng"/>
          </a:p>
        </p:txBody>
      </p:sp>
      <p:pic>
        <p:nvPicPr>
          <p:cNvPr id="5" name="Content Placeholder 4">
            <a:extLst>
              <a:ext uri="{FF2B5EF4-FFF2-40B4-BE49-F238E27FC236}">
                <a16:creationId xmlns:a16="http://schemas.microsoft.com/office/drawing/2014/main" id="{114BCCD7-8822-5E40-A21A-8D068031E6AE}"/>
              </a:ext>
            </a:extLst>
          </p:cNvPr>
          <p:cNvPicPr>
            <a:picLocks noGrp="1" noChangeAspect="1"/>
          </p:cNvPicPr>
          <p:nvPr>
            <p:ph idx="1"/>
          </p:nvPr>
        </p:nvPicPr>
        <p:blipFill>
          <a:blip r:embed="rId2"/>
          <a:stretch>
            <a:fillRect/>
          </a:stretch>
        </p:blipFill>
        <p:spPr>
          <a:xfrm>
            <a:off x="1288025" y="1298575"/>
            <a:ext cx="9413311" cy="4949825"/>
          </a:xfrm>
          <a:prstGeom prst="rect">
            <a:avLst/>
          </a:prstGeom>
        </p:spPr>
      </p:pic>
    </p:spTree>
    <p:extLst>
      <p:ext uri="{BB962C8B-B14F-4D97-AF65-F5344CB8AC3E}">
        <p14:creationId xmlns:p14="http://schemas.microsoft.com/office/powerpoint/2010/main" val="356334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7E8F8-6A6D-136B-A9AC-50B44D5BC4EB}"/>
              </a:ext>
            </a:extLst>
          </p:cNvPr>
          <p:cNvSpPr>
            <a:spLocks noGrp="1"/>
          </p:cNvSpPr>
          <p:nvPr>
            <p:ph type="title"/>
          </p:nvPr>
        </p:nvSpPr>
        <p:spPr>
          <a:xfrm>
            <a:off x="685801" y="609601"/>
            <a:ext cx="10131425" cy="757084"/>
          </a:xfrm>
        </p:spPr>
        <p:txBody>
          <a:bodyPr/>
          <a:lstStyle/>
          <a:p>
            <a:pPr marL="571500" indent="-571500">
              <a:buFont typeface="Wingdings" panose="05000000000000000000" pitchFamily="2" charset="2"/>
              <a:buChar char="v"/>
            </a:pPr>
            <a:r>
              <a:rPr lang="en-US" b="1" u="sng" dirty="0"/>
              <a:t>Future scope</a:t>
            </a:r>
            <a:endParaRPr lang="en-IN" b="1" u="sng" dirty="0"/>
          </a:p>
        </p:txBody>
      </p:sp>
      <p:pic>
        <p:nvPicPr>
          <p:cNvPr id="5" name="Content Placeholder 4">
            <a:extLst>
              <a:ext uri="{FF2B5EF4-FFF2-40B4-BE49-F238E27FC236}">
                <a16:creationId xmlns:a16="http://schemas.microsoft.com/office/drawing/2014/main" id="{34C53B84-8E9D-0B9B-9E71-353D16AFEA68}"/>
              </a:ext>
            </a:extLst>
          </p:cNvPr>
          <p:cNvPicPr>
            <a:picLocks noGrp="1" noChangeAspect="1"/>
          </p:cNvPicPr>
          <p:nvPr>
            <p:ph idx="1"/>
          </p:nvPr>
        </p:nvPicPr>
        <p:blipFill>
          <a:blip r:embed="rId2"/>
          <a:stretch>
            <a:fillRect/>
          </a:stretch>
        </p:blipFill>
        <p:spPr>
          <a:xfrm>
            <a:off x="1347019" y="1366838"/>
            <a:ext cx="9360309" cy="5092956"/>
          </a:xfrm>
          <a:prstGeom prst="rect">
            <a:avLst/>
          </a:prstGeom>
        </p:spPr>
      </p:pic>
    </p:spTree>
    <p:extLst>
      <p:ext uri="{BB962C8B-B14F-4D97-AF65-F5344CB8AC3E}">
        <p14:creationId xmlns:p14="http://schemas.microsoft.com/office/powerpoint/2010/main" val="3038526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B1CFDD-D2AC-26AD-4B03-3BB816346F0C}"/>
              </a:ext>
            </a:extLst>
          </p:cNvPr>
          <p:cNvSpPr>
            <a:spLocks noGrp="1"/>
          </p:cNvSpPr>
          <p:nvPr>
            <p:ph type="title"/>
          </p:nvPr>
        </p:nvSpPr>
        <p:spPr>
          <a:xfrm>
            <a:off x="685801" y="609601"/>
            <a:ext cx="10131425" cy="1022554"/>
          </a:xfrm>
        </p:spPr>
        <p:txBody>
          <a:bodyPr/>
          <a:lstStyle/>
          <a:p>
            <a:pPr marL="571500" indent="-571500">
              <a:buFont typeface="Wingdings" panose="05000000000000000000" pitchFamily="2" charset="2"/>
              <a:buChar char="v"/>
            </a:pPr>
            <a:r>
              <a:rPr lang="en-US" b="1" u="sng"/>
              <a:t>conclusion</a:t>
            </a:r>
            <a:endParaRPr lang="en-IN" b="1" u="sng"/>
          </a:p>
        </p:txBody>
      </p:sp>
      <p:sp>
        <p:nvSpPr>
          <p:cNvPr id="3" name="Content Placeholder 2">
            <a:extLst>
              <a:ext uri="{FF2B5EF4-FFF2-40B4-BE49-F238E27FC236}">
                <a16:creationId xmlns:a16="http://schemas.microsoft.com/office/drawing/2014/main" id="{B3F9F08C-07BE-043D-2161-A052174B437F}"/>
              </a:ext>
            </a:extLst>
          </p:cNvPr>
          <p:cNvSpPr>
            <a:spLocks noGrp="1"/>
          </p:cNvSpPr>
          <p:nvPr>
            <p:ph idx="1"/>
          </p:nvPr>
        </p:nvSpPr>
        <p:spPr>
          <a:xfrm>
            <a:off x="1374774" y="1632155"/>
            <a:ext cx="9442452" cy="4159045"/>
          </a:xfrm>
        </p:spPr>
        <p:txBody>
          <a:bodyPr/>
          <a:lstStyle/>
          <a:p>
            <a:pPr marL="0" indent="0">
              <a:buNone/>
            </a:pPr>
            <a:r>
              <a:rPr lang="en-US"/>
              <a:t>The IoT-Based Smart Car Parking System offers an efficient, reliable, and cost-effective approach to modern parking management. By leveraging IoT technology, it enables real-time parking monitoring, optimizes space utilization, reduces traffic congestion, and enhances user convenience. The system provides a scalable foundation for future smart city and intelligent transportation applications.</a:t>
            </a:r>
          </a:p>
          <a:p>
            <a:pPr marL="0" indent="0">
              <a:buNone/>
            </a:pPr>
            <a:endParaRPr lang="en-US"/>
          </a:p>
          <a:p>
            <a:pPr marL="0" indent="0">
              <a:buNone/>
            </a:pPr>
            <a:endParaRPr lang="en-US"/>
          </a:p>
          <a:p>
            <a:pPr marL="0" indent="0">
              <a:buNone/>
            </a:pPr>
            <a:endParaRPr lang="en-IN"/>
          </a:p>
          <a:p>
            <a:pPr marL="0" indent="0">
              <a:buNone/>
            </a:pPr>
            <a:endParaRPr lang="en-IN"/>
          </a:p>
          <a:p>
            <a:pPr marL="0" indent="0">
              <a:buNone/>
            </a:pPr>
            <a:endParaRPr lang="en-IN"/>
          </a:p>
          <a:p>
            <a:pPr marL="0" indent="0">
              <a:buNone/>
            </a:pPr>
            <a:endParaRPr lang="en-IN"/>
          </a:p>
        </p:txBody>
      </p:sp>
    </p:spTree>
    <p:extLst>
      <p:ext uri="{BB962C8B-B14F-4D97-AF65-F5344CB8AC3E}">
        <p14:creationId xmlns:p14="http://schemas.microsoft.com/office/powerpoint/2010/main" val="42024195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9B94EA-B015-3938-BED5-E2D0A7CA3E1F}"/>
              </a:ext>
            </a:extLst>
          </p:cNvPr>
          <p:cNvSpPr>
            <a:spLocks noGrp="1"/>
          </p:cNvSpPr>
          <p:nvPr>
            <p:ph type="title"/>
          </p:nvPr>
        </p:nvSpPr>
        <p:spPr>
          <a:xfrm>
            <a:off x="685801" y="609600"/>
            <a:ext cx="10131425" cy="5388077"/>
          </a:xfrm>
        </p:spPr>
        <p:txBody>
          <a:bodyPr>
            <a:normAutofit/>
          </a:bodyPr>
          <a:lstStyle/>
          <a:p>
            <a:pPr algn="ctr"/>
            <a:r>
              <a:rPr lang="en-US" sz="4000" b="1" u="sng"/>
              <a:t>Thank you</a:t>
            </a:r>
            <a:endParaRPr lang="en-IN" sz="4000" b="1" u="sng"/>
          </a:p>
        </p:txBody>
      </p:sp>
    </p:spTree>
    <p:extLst>
      <p:ext uri="{BB962C8B-B14F-4D97-AF65-F5344CB8AC3E}">
        <p14:creationId xmlns:p14="http://schemas.microsoft.com/office/powerpoint/2010/main" val="198060452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 /></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3</TotalTime>
  <Words>373</Words>
  <Application>Microsoft Office PowerPoint</Application>
  <PresentationFormat>Widescreen</PresentationFormat>
  <Paragraphs>58</Paragraphs>
  <Slides>11</Slides>
  <Notes>0</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Celestial</vt:lpstr>
      <vt:lpstr>IOT BASED SMART CAR PARKING SYSTEM </vt:lpstr>
      <vt:lpstr>Introduction and problem statements</vt:lpstr>
      <vt:lpstr>System Architecture</vt:lpstr>
      <vt:lpstr>Hardware and software components</vt:lpstr>
      <vt:lpstr>Circuit diagram</vt:lpstr>
      <vt:lpstr>Working Principle</vt:lpstr>
      <vt:lpstr>objectives</vt:lpstr>
      <vt:lpstr>benefits</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BASED SMART CAR PARKING SYSTEM </dc:title>
  <dc:creator>Arindam Dutta</dc:creator>
  <cp:lastModifiedBy>Arindam Dutta</cp:lastModifiedBy>
  <cp:revision>2</cp:revision>
  <dcterms:created xsi:type="dcterms:W3CDTF">2026-07-10T13:01:02Z</dcterms:created>
  <dcterms:modified xsi:type="dcterms:W3CDTF">2026-07-12T18:40:11Z</dcterms:modified>
</cp:coreProperties>
</file>